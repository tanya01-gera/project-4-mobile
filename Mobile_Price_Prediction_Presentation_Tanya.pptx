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4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Mobile Price Prediction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rPr sz="2500" b="1" dirty="0"/>
              <a:t>By Tanya Gera • </a:t>
            </a:r>
            <a:r>
              <a:rPr sz="2500" b="1" dirty="0" err="1"/>
              <a:t>Next</a:t>
            </a:r>
            <a:r>
              <a:rPr lang="en-US" sz="2500" b="1" dirty="0" err="1"/>
              <a:t>H</a:t>
            </a:r>
            <a:r>
              <a:rPr sz="2500" b="1" dirty="0" err="1"/>
              <a:t>ikes</a:t>
            </a:r>
            <a:r>
              <a:rPr sz="2500" b="1" dirty="0"/>
              <a:t> • 15/11/2025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31837"/>
            <a:ext cx="8229600" cy="1417473"/>
          </a:xfrm>
        </p:spPr>
        <p:txBody>
          <a:bodyPr/>
          <a:lstStyle/>
          <a:p>
            <a:pPr>
              <a:defRPr sz="3200" b="1">
                <a:solidFill>
                  <a:srgbClr val="0A2463"/>
                </a:solidFill>
              </a:defRPr>
            </a:pPr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8606" y="2752627"/>
            <a:ext cx="7348194" cy="3373536"/>
          </a:xfrm>
        </p:spPr>
        <p:txBody>
          <a:bodyPr wrap="square"/>
          <a:lstStyle/>
          <a:p>
            <a:pPr lvl="1">
              <a:defRPr sz="2000">
                <a:solidFill>
                  <a:srgbClr val="1E1E1E"/>
                </a:solidFill>
              </a:defRPr>
            </a:pPr>
            <a:r>
              <a:rPr dirty="0"/>
              <a:t>Goal: Predict smartphone prices using ML models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rPr dirty="0"/>
              <a:t>Dataset includes specs like RAM, memory, cameras, processor, battery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rPr dirty="0"/>
              <a:t>Multiple models tested for best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50448"/>
            <a:ext cx="8229600" cy="1348033"/>
          </a:xfrm>
        </p:spPr>
        <p:txBody>
          <a:bodyPr/>
          <a:lstStyle/>
          <a:p>
            <a:pPr>
              <a:defRPr sz="3200" b="1">
                <a:solidFill>
                  <a:srgbClr val="0A2463"/>
                </a:solidFill>
              </a:defRPr>
            </a:pPr>
            <a:r>
              <a:rPr dirty="0"/>
              <a:t>Dataset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8606" y="2290713"/>
            <a:ext cx="7348194" cy="4477732"/>
          </a:xfrm>
        </p:spPr>
        <p:txBody>
          <a:bodyPr wrap="square"/>
          <a:lstStyle/>
          <a:p>
            <a:pPr lvl="1">
              <a:defRPr sz="2000">
                <a:solidFill>
                  <a:srgbClr val="1E1E1E"/>
                </a:solidFill>
              </a:defRPr>
            </a:pPr>
            <a:r>
              <a:rPr dirty="0"/>
              <a:t>541 rows, 11 columns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rPr dirty="0"/>
              <a:t>Features include model, RAM, memory, battery, camera specs, processor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rPr dirty="0"/>
              <a:t>Target variable: Price (Prize)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7328"/>
            <a:ext cx="8229600" cy="1385740"/>
          </a:xfrm>
        </p:spPr>
        <p:txBody>
          <a:bodyPr/>
          <a:lstStyle/>
          <a:p>
            <a:pPr>
              <a:defRPr sz="3200" b="1">
                <a:solidFill>
                  <a:srgbClr val="0A2463"/>
                </a:solidFill>
              </a:defRPr>
            </a:pPr>
            <a:r>
              <a:rPr dirty="0"/>
              <a:t>EDA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9753" y="2007908"/>
            <a:ext cx="7367047" cy="4675695"/>
          </a:xfrm>
        </p:spPr>
        <p:txBody>
          <a:bodyPr wrap="square"/>
          <a:lstStyle/>
          <a:p>
            <a:pPr lvl="1">
              <a:defRPr sz="2000">
                <a:solidFill>
                  <a:srgbClr val="1E1E1E"/>
                </a:solidFill>
              </a:defRPr>
            </a:pPr>
            <a:r>
              <a:rPr dirty="0"/>
              <a:t>Price distribution is right-skewed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rPr dirty="0"/>
              <a:t>Significant high-end outliers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rPr dirty="0"/>
              <a:t>Weak linear correlations overall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rPr dirty="0"/>
              <a:t>Feature importance shows processor is dominant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6885"/>
          </a:xfrm>
        </p:spPr>
        <p:txBody>
          <a:bodyPr/>
          <a:lstStyle/>
          <a:p>
            <a:pPr>
              <a:defRPr sz="3200" b="1">
                <a:solidFill>
                  <a:srgbClr val="0A2463"/>
                </a:solidFill>
              </a:defRPr>
            </a:pPr>
            <a:r>
              <a:rPr dirty="0"/>
              <a:t>Visual Insights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30E134-FE37-4778-5AEA-E54546B401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27202"/>
            <a:ext cx="4458576" cy="28586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C997FD-009B-266C-76F3-774777728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2188"/>
            <a:ext cx="4458576" cy="27488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A4FEEA-E13C-F126-F5CB-AC84B4182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5367" y="827202"/>
            <a:ext cx="4808633" cy="28586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02B59A-B809-249C-2027-67CACADFC9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8576" y="3812188"/>
            <a:ext cx="4685424" cy="24822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01278"/>
            <a:ext cx="8229600" cy="1677970"/>
          </a:xfrm>
        </p:spPr>
        <p:txBody>
          <a:bodyPr/>
          <a:lstStyle/>
          <a:p>
            <a:pPr>
              <a:defRPr sz="3200" b="1">
                <a:solidFill>
                  <a:srgbClr val="0A2463"/>
                </a:solidFill>
              </a:defRPr>
            </a:pPr>
            <a:r>
              <a:rPr dirty="0"/>
              <a:t>Preprocessing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3446" y="2846895"/>
            <a:ext cx="7263353" cy="3827282"/>
          </a:xfrm>
        </p:spPr>
        <p:txBody>
          <a:bodyPr wrap="square"/>
          <a:lstStyle/>
          <a:p>
            <a:pPr lvl="1">
              <a:defRPr sz="2000">
                <a:solidFill>
                  <a:srgbClr val="1E1E1E"/>
                </a:solidFill>
              </a:defRPr>
            </a:pPr>
            <a:r>
              <a:rPr dirty="0"/>
              <a:t>Handled missing values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rPr dirty="0"/>
              <a:t>One-Hot Encoding for categorical features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rPr dirty="0"/>
              <a:t>Train-test split (80/20)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rPr dirty="0"/>
              <a:t>Scaling using </a:t>
            </a:r>
            <a:r>
              <a:rPr dirty="0" err="1"/>
              <a:t>StandardScaler</a:t>
            </a:r>
            <a:r>
              <a:rPr dirty="0"/>
              <a:t> &amp; </a:t>
            </a:r>
            <a:r>
              <a:rPr dirty="0" err="1"/>
              <a:t>MinMaxScaler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41023"/>
            <a:ext cx="8229600" cy="1649689"/>
          </a:xfrm>
        </p:spPr>
        <p:txBody>
          <a:bodyPr/>
          <a:lstStyle/>
          <a:p>
            <a:pPr>
              <a:defRPr sz="3200" b="1">
                <a:solidFill>
                  <a:srgbClr val="0A2463"/>
                </a:solidFill>
              </a:defRPr>
            </a:pPr>
            <a:r>
              <a:rPr dirty="0"/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6058" y="2394408"/>
            <a:ext cx="7470742" cy="4119514"/>
          </a:xfrm>
        </p:spPr>
        <p:txBody>
          <a:bodyPr wrap="square"/>
          <a:lstStyle/>
          <a:p>
            <a:pPr lvl="1">
              <a:defRPr sz="2000">
                <a:solidFill>
                  <a:srgbClr val="1E1E1E"/>
                </a:solidFill>
              </a:defRPr>
            </a:pPr>
            <a:r>
              <a:rPr dirty="0"/>
              <a:t>Linear Regression (baseline, poor performance)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rPr dirty="0"/>
              <a:t>Decision Tree Regressor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rPr dirty="0"/>
              <a:t>Random Forest Regressor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rPr dirty="0"/>
              <a:t>Gradient Boosting Regressor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rPr dirty="0" err="1"/>
              <a:t>XGBoost</a:t>
            </a:r>
            <a:r>
              <a:rPr dirty="0"/>
              <a:t> Regressor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04972"/>
            <a:ext cx="8229600" cy="1414021"/>
          </a:xfrm>
        </p:spPr>
        <p:txBody>
          <a:bodyPr/>
          <a:lstStyle/>
          <a:p>
            <a:pPr>
              <a:defRPr sz="3200" b="1">
                <a:solidFill>
                  <a:srgbClr val="0A2463"/>
                </a:solidFill>
              </a:defRPr>
            </a:pPr>
            <a:r>
              <a:rPr dirty="0"/>
              <a:t>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252" y="2724346"/>
            <a:ext cx="6980548" cy="3859016"/>
          </a:xfrm>
        </p:spPr>
        <p:txBody>
          <a:bodyPr wrap="square"/>
          <a:lstStyle/>
          <a:p>
            <a:pPr lvl="1">
              <a:defRPr sz="2000">
                <a:solidFill>
                  <a:srgbClr val="1E1E1E"/>
                </a:solidFill>
              </a:defRPr>
            </a:pPr>
            <a:r>
              <a:rPr dirty="0"/>
              <a:t>Decision Tree: R² ≈ 0.89 (Best)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rPr dirty="0" err="1"/>
              <a:t>XGBoost</a:t>
            </a:r>
            <a:r>
              <a:rPr dirty="0"/>
              <a:t>: R² ≈ 0.88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rPr dirty="0"/>
              <a:t>Random Forest: R² ≈ 0.84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rPr dirty="0"/>
              <a:t>Gradient Boosting: R² ≈ 0.82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rPr dirty="0"/>
              <a:t>Linear Regression performed poorly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82424"/>
            <a:ext cx="8229600" cy="1046376"/>
          </a:xfrm>
        </p:spPr>
        <p:txBody>
          <a:bodyPr/>
          <a:lstStyle/>
          <a:p>
            <a:pPr>
              <a:defRPr sz="3200" b="1">
                <a:solidFill>
                  <a:srgbClr val="0A2463"/>
                </a:solidFill>
              </a:defRPr>
            </a:pPr>
            <a:r>
              <a:rPr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9690" y="2469822"/>
            <a:ext cx="7037109" cy="4113539"/>
          </a:xfrm>
        </p:spPr>
        <p:txBody>
          <a:bodyPr wrap="square"/>
          <a:lstStyle/>
          <a:p>
            <a:pPr lvl="1">
              <a:defRPr sz="2000">
                <a:solidFill>
                  <a:srgbClr val="1E1E1E"/>
                </a:solidFill>
              </a:defRPr>
            </a:pPr>
            <a:r>
              <a:rPr dirty="0"/>
              <a:t>Processor type strongly affects price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rPr dirty="0"/>
              <a:t>Camera quality, RAM, and memory also contribute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rPr dirty="0"/>
              <a:t>Tree-based models outperform linear models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31596"/>
            <a:ext cx="8229600" cy="1414020"/>
          </a:xfrm>
        </p:spPr>
        <p:txBody>
          <a:bodyPr/>
          <a:lstStyle/>
          <a:p>
            <a:pPr>
              <a:defRPr sz="3200" b="1">
                <a:solidFill>
                  <a:srgbClr val="0A2463"/>
                </a:solidFill>
              </a:defRPr>
            </a:pPr>
            <a:r>
              <a:rPr dirty="0"/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1790" y="2413262"/>
            <a:ext cx="7565010" cy="3712901"/>
          </a:xfrm>
        </p:spPr>
        <p:txBody>
          <a:bodyPr wrap="square"/>
          <a:lstStyle/>
          <a:p>
            <a:pPr lvl="1">
              <a:defRPr sz="2000">
                <a:solidFill>
                  <a:srgbClr val="1E1E1E"/>
                </a:solidFill>
              </a:defRPr>
            </a:pPr>
            <a:r>
              <a:rPr dirty="0"/>
              <a:t>Best model: Decision Tree / </a:t>
            </a:r>
            <a:r>
              <a:rPr dirty="0" err="1"/>
              <a:t>XGBoost</a:t>
            </a:r>
            <a:endParaRPr dirty="0"/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rPr dirty="0"/>
              <a:t>Can be used in pricing engines for e-commerce</a:t>
            </a:r>
          </a:p>
          <a:p>
            <a:pPr lvl="1">
              <a:defRPr sz="2000">
                <a:solidFill>
                  <a:srgbClr val="1E1E1E"/>
                </a:solidFill>
              </a:defRPr>
            </a:pPr>
            <a:r>
              <a:rPr dirty="0"/>
              <a:t>Future: More data, PCA, brand grouping, </a:t>
            </a:r>
            <a:r>
              <a:rPr dirty="0" err="1"/>
              <a:t>LightGBM</a:t>
            </a:r>
            <a:r>
              <a:rPr dirty="0"/>
              <a:t>/</a:t>
            </a:r>
            <a:r>
              <a:rPr dirty="0" err="1"/>
              <a:t>CatBoost</a:t>
            </a:r>
            <a:r>
              <a:rPr dirty="0"/>
              <a:t>,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219</Words>
  <Application>Microsoft Office PowerPoint</Application>
  <PresentationFormat>On-screen Show (4:3)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Mobile Price Prediction Project</vt:lpstr>
      <vt:lpstr>Project Overview</vt:lpstr>
      <vt:lpstr>Dataset Summary</vt:lpstr>
      <vt:lpstr>EDA Highlights</vt:lpstr>
      <vt:lpstr>Visual Insights</vt:lpstr>
      <vt:lpstr>Preprocessing Steps</vt:lpstr>
      <vt:lpstr>Modeling Approach</vt:lpstr>
      <vt:lpstr>Model Results</vt:lpstr>
      <vt:lpstr>Key Insights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TANYA</dc:creator>
  <cp:keywords/>
  <dc:description>generated using python-pptx</dc:description>
  <cp:lastModifiedBy>Tanya Gera</cp:lastModifiedBy>
  <cp:revision>2</cp:revision>
  <dcterms:created xsi:type="dcterms:W3CDTF">2013-01-27T09:14:16Z</dcterms:created>
  <dcterms:modified xsi:type="dcterms:W3CDTF">2025-11-15T11:50:46Z</dcterms:modified>
  <cp:category/>
</cp:coreProperties>
</file>